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3"/>
  </p:notesMasterIdLst>
  <p:handoutMasterIdLst>
    <p:handoutMasterId r:id="rId34"/>
  </p:handoutMasterIdLst>
  <p:sldIdLst>
    <p:sldId id="335" r:id="rId5"/>
    <p:sldId id="336" r:id="rId6"/>
    <p:sldId id="339" r:id="rId7"/>
    <p:sldId id="365" r:id="rId8"/>
    <p:sldId id="367" r:id="rId9"/>
    <p:sldId id="368" r:id="rId10"/>
    <p:sldId id="369" r:id="rId11"/>
    <p:sldId id="353" r:id="rId12"/>
    <p:sldId id="352" r:id="rId13"/>
    <p:sldId id="364" r:id="rId14"/>
    <p:sldId id="355" r:id="rId15"/>
    <p:sldId id="371" r:id="rId16"/>
    <p:sldId id="359" r:id="rId17"/>
    <p:sldId id="356" r:id="rId18"/>
    <p:sldId id="357" r:id="rId19"/>
    <p:sldId id="350" r:id="rId20"/>
    <p:sldId id="370" r:id="rId21"/>
    <p:sldId id="372" r:id="rId22"/>
    <p:sldId id="354" r:id="rId23"/>
    <p:sldId id="358" r:id="rId24"/>
    <p:sldId id="360" r:id="rId25"/>
    <p:sldId id="362" r:id="rId26"/>
    <p:sldId id="348" r:id="rId27"/>
    <p:sldId id="351" r:id="rId28"/>
    <p:sldId id="363" r:id="rId29"/>
    <p:sldId id="349" r:id="rId30"/>
    <p:sldId id="361" r:id="rId31"/>
    <p:sldId id="34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A1FA58-BCAB-46F2-A3A3-467948744DF2}" v="18" dt="2026-01-06T03:34:09.728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76" autoAdjust="0"/>
    <p:restoredTop sz="95394" autoAdjust="0"/>
  </p:normalViewPr>
  <p:slideViewPr>
    <p:cSldViewPr snapToGrid="0">
      <p:cViewPr varScale="1">
        <p:scale>
          <a:sx n="102" d="100"/>
          <a:sy n="102" d="100"/>
        </p:scale>
        <p:origin x="96" y="264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commentAuthors" Target="comment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B96D7-F201-492C-AA50-574A730BC27F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563E-BCB2-465B-8A3C-AC86CE64F6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16CA8-7DCC-4F2C-A1EF-C632B9D3E96D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90660-4B7D-4C11-96DB-B19FFA8CA9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793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7C808-C95E-A118-D350-7D69B240B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09DF06-1D36-ED86-3812-28A4FCE927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0BDCFB-16F1-4106-62E6-FFD1EB060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Calvary and Mount Zion </a:t>
            </a:r>
            <a:r>
              <a:rPr lang="en-US" dirty="0" err="1"/>
              <a:t>Cemetaries</a:t>
            </a:r>
            <a:r>
              <a:rPr lang="en-US" dirty="0"/>
              <a:t> in Queens has a high flooded building footprint percentage, but its built area ratio is very low (2.5%)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B6246-ACA5-B28E-8738-9BB529FAA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488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D1568-C614-FBD2-9B8E-F85DF718F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BA4D9-7499-5C09-25A8-220FC675AF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884217-F469-E641-C542-2176C16DC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0137E-E141-2D5E-A521-BAF527068A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037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we went from 3 disparate datasets to one functioning dataset – </a:t>
            </a:r>
            <a:br>
              <a:rPr lang="en-US" dirty="0"/>
            </a:br>
            <a:r>
              <a:rPr lang="en-US" dirty="0"/>
              <a:t>Explain the centroid join with the predicate of within to allow for joining center points to WITHIN the geometrical shape of a neighborhood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885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45779-63D7-B095-3526-D1B76A6FF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1CCF7-C924-2CE0-5DDA-2D617EB4CA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33ABFF-7A29-6611-6C53-1EF031ACB6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we went from 3 disparate datasets to one functioning dataset – </a:t>
            </a:r>
            <a:br>
              <a:rPr lang="en-US" dirty="0"/>
            </a:br>
            <a:r>
              <a:rPr lang="en-US" dirty="0"/>
              <a:t>Explain the centroid join with the predicate of within to allow for joining center points to WITHIN the geometrical shape of a neighborhood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C05E5-927D-B304-762C-5A397B5221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639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anchor="b">
            <a:normAutofit/>
          </a:bodyPr>
          <a:lstStyle>
            <a:lvl1pPr algn="l">
              <a:defRPr sz="4000" b="1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75" name="Text Placehold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800"/>
            </a:lvl1pPr>
            <a:lvl2pPr marL="457200" indent="0">
              <a:lnSpc>
                <a:spcPts val="2400"/>
              </a:lnSpc>
              <a:buNone/>
              <a:defRPr sz="2000"/>
            </a:lvl2pPr>
            <a:lvl3pPr marL="914400" indent="0">
              <a:lnSpc>
                <a:spcPts val="2400"/>
              </a:lnSpc>
              <a:buNone/>
              <a:defRPr sz="2000"/>
            </a:lvl3pPr>
            <a:lvl4pPr marL="1371600" indent="0">
              <a:lnSpc>
                <a:spcPts val="2400"/>
              </a:lnSpc>
              <a:buNone/>
              <a:defRPr sz="2000"/>
            </a:lvl4pPr>
            <a:lvl5pPr marL="1828800" indent="0">
              <a:lnSpc>
                <a:spcPts val="2400"/>
              </a:lnSpc>
              <a:buNone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  <a:lvl6pPr marL="1600200">
              <a:defRPr/>
            </a:lvl6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 sz="2000"/>
            </a:lvl4pPr>
            <a:lvl5pPr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.cityofnewyork.us/Environment/New-York-City-s-Flood-Vulnerability-Index/mrjc-v9pm/about_data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cityofnewyork.us/City-Government/2020-Neighborhood-Tabulation-Areas-NTAs-/9nt8-h7nd" TargetMode="External"/><Relationship Id="rId2" Type="http://schemas.openxmlformats.org/officeDocument/2006/relationships/hyperlink" Target="https://data.cityofnewyork.us/City-Government/Building-Footprints-Map-/jh45-qr5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rowens2025/" TargetMode="External"/><Relationship Id="rId5" Type="http://schemas.openxmlformats.org/officeDocument/2006/relationships/hyperlink" Target="http://www.powervisualize.com/" TargetMode="External"/><Relationship Id="rId4" Type="http://schemas.openxmlformats.org/officeDocument/2006/relationships/hyperlink" Target="https://data.cityofnewyork.us/Environment/NYC-Stormwater-Flood-Maps/9i7c-xyvv/about_data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39265" y="960120"/>
            <a:ext cx="6647935" cy="3056343"/>
          </a:xfrm>
        </p:spPr>
        <p:txBody>
          <a:bodyPr/>
          <a:lstStyle/>
          <a:p>
            <a:r>
              <a:rPr lang="en-US" dirty="0"/>
              <a:t>NYC </a:t>
            </a:r>
            <a:br>
              <a:rPr lang="en-US" dirty="0"/>
            </a:br>
            <a:r>
              <a:rPr lang="en-US" dirty="0"/>
              <a:t>FLOOD RISK</a:t>
            </a:r>
            <a:br>
              <a:rPr lang="en-US" dirty="0"/>
            </a:br>
            <a:r>
              <a:rPr lang="en-US" dirty="0"/>
              <a:t>Exploration in Python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870A-EBCD-13FC-D1A2-49C555C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Agenda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B4EC43-20C2-1DA5-646B-B8D26CF7D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/>
          <a:lstStyle/>
          <a:p>
            <a:r>
              <a:rPr lang="en-US" dirty="0"/>
              <a:t>Introduction &amp; Goals</a:t>
            </a:r>
          </a:p>
          <a:p>
            <a:r>
              <a:rPr lang="en-US" dirty="0"/>
              <a:t>Understanding &amp; Enriching the Data</a:t>
            </a:r>
          </a:p>
          <a:p>
            <a:r>
              <a:rPr lang="en-US" dirty="0"/>
              <a:t>Findings &amp; Visualizations</a:t>
            </a:r>
          </a:p>
          <a:p>
            <a:r>
              <a:rPr lang="en-US" dirty="0"/>
              <a:t>Engaging the data – discoveries and hiccups</a:t>
            </a:r>
          </a:p>
          <a:p>
            <a:r>
              <a:rPr lang="en-US" dirty="0"/>
              <a:t>Future Expansions and Adding Value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920E1-1F47-D3FB-B5CD-7110B379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74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Introduction and Goals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Leveraging NYC’s aerial planimetric basemap program to map construction across the city</a:t>
            </a:r>
          </a:p>
          <a:p>
            <a:r>
              <a:rPr lang="en-US" dirty="0"/>
              <a:t>Tying in the flood map zones for areas modeled for risk at present day in NYC</a:t>
            </a:r>
          </a:p>
          <a:p>
            <a:r>
              <a:rPr lang="en-US" dirty="0"/>
              <a:t>Mapping buildings and flood zones to neighborhoods for aggregation purposes</a:t>
            </a:r>
          </a:p>
          <a:p>
            <a:r>
              <a:rPr lang="en-US" dirty="0"/>
              <a:t>Key Metrics to Determine</a:t>
            </a:r>
          </a:p>
          <a:p>
            <a:pPr lvl="1"/>
            <a:r>
              <a:rPr lang="en-US" dirty="0"/>
              <a:t>Construction Density</a:t>
            </a:r>
          </a:p>
          <a:p>
            <a:pPr lvl="1"/>
            <a:r>
              <a:rPr lang="en-US" dirty="0"/>
              <a:t>Flood Exposure</a:t>
            </a:r>
          </a:p>
          <a:p>
            <a:pPr lvl="1"/>
            <a:r>
              <a:rPr lang="en-US" dirty="0"/>
              <a:t>Risk Concentration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008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11CDC-E80D-A4E3-6D78-8B1ED0AF6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A2072-67EE-C831-D35D-70F17FADE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724493"/>
          </a:xfrm>
        </p:spPr>
        <p:txBody>
          <a:bodyPr/>
          <a:lstStyle/>
          <a:p>
            <a:r>
              <a:rPr lang="en-US" dirty="0"/>
              <a:t>UNDERSTANDING the Data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4249ED-3683-18A6-D19F-2C349A738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2CDE04-984B-2CD0-A5F3-D514F81DD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169" y="2691750"/>
            <a:ext cx="3518545" cy="3060425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55BDDA62-7B42-190B-0228-676BD2C391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7650" y="1037967"/>
            <a:ext cx="5684107" cy="1248034"/>
          </a:xfrm>
        </p:spPr>
        <p:txBody>
          <a:bodyPr>
            <a:normAutofit/>
          </a:bodyPr>
          <a:lstStyle/>
          <a:p>
            <a:r>
              <a:rPr lang="en-US" dirty="0"/>
              <a:t>Using </a:t>
            </a:r>
            <a:r>
              <a:rPr lang="en-US" dirty="0" err="1"/>
              <a:t>Geopands</a:t>
            </a:r>
            <a:r>
              <a:rPr lang="en-US" dirty="0"/>
              <a:t>, aggregated the footprint square feet of buildings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502925A-0D54-366C-F941-8E51E3397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111" y="626872"/>
            <a:ext cx="39338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739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D5001-7D72-24D7-DAB1-34E9F2162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13532-42D1-5260-F644-67CB04BE9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724493"/>
          </a:xfrm>
        </p:spPr>
        <p:txBody>
          <a:bodyPr/>
          <a:lstStyle/>
          <a:p>
            <a:r>
              <a:rPr lang="en-US" dirty="0"/>
              <a:t>UNDERSTANDING the Data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DB949D-38AC-8829-9F15-CB04FA956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757B200-C73B-A2BC-1B00-975B3C44E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795" y="1304690"/>
            <a:ext cx="7524750" cy="4667250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56992192-9368-F2FA-E679-14285F3556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1685" y="1304690"/>
            <a:ext cx="3032764" cy="2124309"/>
          </a:xfrm>
        </p:spPr>
        <p:txBody>
          <a:bodyPr>
            <a:normAutofit/>
          </a:bodyPr>
          <a:lstStyle/>
          <a:p>
            <a:r>
              <a:rPr lang="en-US" dirty="0"/>
              <a:t>NTA Total Area is the Square Mile size of the neighborhood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271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05839-6057-8BBE-997D-D0524457F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DBABF-0734-9768-CBA5-9B5E80BE6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724493"/>
          </a:xfrm>
        </p:spPr>
        <p:txBody>
          <a:bodyPr/>
          <a:lstStyle/>
          <a:p>
            <a:r>
              <a:rPr lang="en-US" dirty="0"/>
              <a:t>ENRICHING the Data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A6C68F-1B0C-E8C4-A404-971A2173F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16C6A0-0A63-7BCA-E0EA-DE4FD855C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235" y="1185901"/>
            <a:ext cx="7653794" cy="1035103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E7E94EC-63A7-64FA-D488-86C593B09F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971" y="1837254"/>
            <a:ext cx="3220429" cy="2124309"/>
          </a:xfrm>
        </p:spPr>
        <p:txBody>
          <a:bodyPr>
            <a:normAutofit/>
          </a:bodyPr>
          <a:lstStyle/>
          <a:p>
            <a:r>
              <a:rPr lang="en-US" dirty="0"/>
              <a:t>NTAs by Built Area is the total footprint of buildings that intersect the shape of the NTA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4695C2-EFB5-02A2-DEC3-D9DEB85A1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779" y="2419550"/>
            <a:ext cx="7584706" cy="392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681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AC48E-C52B-89C2-D6EF-ED1F01133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87FE1-83A7-2C89-9839-4E5EE0B1C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724493"/>
          </a:xfrm>
        </p:spPr>
        <p:txBody>
          <a:bodyPr/>
          <a:lstStyle/>
          <a:p>
            <a:r>
              <a:rPr lang="en-US" dirty="0"/>
              <a:t>ENRICHING the Data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D3B71E-2827-6926-E095-600FD055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89065B-B01D-2501-2972-7AC50AFDC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88" y="2563512"/>
            <a:ext cx="3431710" cy="28449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610F1A-7487-3E48-2DC3-612343D69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169" y="1304691"/>
            <a:ext cx="4661118" cy="4661118"/>
          </a:xfrm>
          <a:prstGeom prst="rect">
            <a:avLst/>
          </a:prstGeom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8C0A12B-EF6E-8B40-A9E0-762B4F0C9F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4919" y="1304691"/>
            <a:ext cx="5343525" cy="2124309"/>
          </a:xfrm>
        </p:spPr>
        <p:txBody>
          <a:bodyPr>
            <a:normAutofit/>
          </a:bodyPr>
          <a:lstStyle/>
          <a:p>
            <a:r>
              <a:rPr lang="en-US" dirty="0"/>
              <a:t>Built Area Ratio = </a:t>
            </a:r>
            <a:br>
              <a:rPr lang="en-US" dirty="0"/>
            </a:br>
            <a:r>
              <a:rPr lang="en-US" dirty="0"/>
              <a:t>Building Foot Print / NTA Area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98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EA3C4-23D8-F8DE-871C-9F8752132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10B27-93A8-593D-9226-4662FDC8F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Enriching the Data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AF38E1-6472-7548-81BB-C9B113426E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1" y="1884405"/>
            <a:ext cx="4504038" cy="4553465"/>
          </a:xfrm>
        </p:spPr>
        <p:txBody>
          <a:bodyPr>
            <a:normAutofit/>
          </a:bodyPr>
          <a:lstStyle/>
          <a:p>
            <a:r>
              <a:rPr lang="en-US" dirty="0"/>
              <a:t>Created a risk score for NTA level, combining density with total area effected by floods</a:t>
            </a:r>
          </a:p>
          <a:p>
            <a:r>
              <a:rPr lang="en-US" dirty="0"/>
              <a:t>Processed new joined datasets into parquet files </a:t>
            </a:r>
            <a:r>
              <a:rPr lang="en-US" dirty="0" err="1"/>
              <a:t>fo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CCB21C-724F-89C8-4C86-93344B7F4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F3372D-55A3-7465-13D9-07E6AFA0B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686" y="1171272"/>
            <a:ext cx="6730314" cy="4692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808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5510C-3EB6-2243-D5A7-FFAD3B063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DEED2-C566-ED31-39E8-21DEC2DBA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Enriching the Data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AA850-72F3-85E6-199D-3841783AE3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1" y="1655805"/>
            <a:ext cx="4800600" cy="4782065"/>
          </a:xfrm>
        </p:spPr>
        <p:txBody>
          <a:bodyPr>
            <a:normAutofit/>
          </a:bodyPr>
          <a:lstStyle/>
          <a:p>
            <a:r>
              <a:rPr lang="en-US" dirty="0"/>
              <a:t>Mapped in flag for </a:t>
            </a:r>
            <a:r>
              <a:rPr lang="en-US" dirty="0" err="1"/>
              <a:t>is_flooded</a:t>
            </a:r>
            <a:r>
              <a:rPr lang="en-US" dirty="0"/>
              <a:t> to get the total square feet of flooded zones, their percentages buildings flooded, and % footprint flooded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EB961D-CE69-F8E3-E31D-9749202F2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572740-4F72-E443-BBB4-88A2125A6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356029"/>
            <a:ext cx="4625236" cy="23686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A601EA-BF16-CBE1-3980-053D87883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4795" y="102382"/>
            <a:ext cx="3561914" cy="32536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A41E7F-27ED-1190-14BD-709E99E17E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811" y="3356029"/>
            <a:ext cx="3638812" cy="341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468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9A6E9E6-A762-4F49-DABE-E1DD49D5F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92D77-1056-4898-C129-4A5059720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688175"/>
          </a:xfrm>
        </p:spPr>
        <p:txBody>
          <a:bodyPr/>
          <a:lstStyle/>
          <a:p>
            <a:r>
              <a:rPr lang="en-US" dirty="0"/>
              <a:t>Findings and Visualizations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B5A4F7-3C60-4AB5-D65F-167D31859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0BC4B2-D17A-B4E2-9B89-766D66986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723" y="943120"/>
            <a:ext cx="7420233" cy="548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206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1DC02AE-806F-9650-A618-8442E1D89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0E476-1B49-2006-5CB7-6035F23C0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688175"/>
          </a:xfrm>
        </p:spPr>
        <p:txBody>
          <a:bodyPr/>
          <a:lstStyle/>
          <a:p>
            <a:r>
              <a:rPr lang="en-US" dirty="0"/>
              <a:t>Findings and Visualizations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091914-58D6-4E48-8EF5-2FCD059C1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6CFE37F-ECFC-17B6-FC42-DA7EE4645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351370"/>
              </p:ext>
            </p:extLst>
          </p:nvPr>
        </p:nvGraphicFramePr>
        <p:xfrm>
          <a:off x="1445741" y="1074440"/>
          <a:ext cx="6796218" cy="5172182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132703">
                  <a:extLst>
                    <a:ext uri="{9D8B030D-6E8A-4147-A177-3AD203B41FA5}">
                      <a16:colId xmlns:a16="http://schemas.microsoft.com/office/drawing/2014/main" val="4085975068"/>
                    </a:ext>
                  </a:extLst>
                </a:gridCol>
                <a:gridCol w="1132703">
                  <a:extLst>
                    <a:ext uri="{9D8B030D-6E8A-4147-A177-3AD203B41FA5}">
                      <a16:colId xmlns:a16="http://schemas.microsoft.com/office/drawing/2014/main" val="3586364838"/>
                    </a:ext>
                  </a:extLst>
                </a:gridCol>
                <a:gridCol w="1132703">
                  <a:extLst>
                    <a:ext uri="{9D8B030D-6E8A-4147-A177-3AD203B41FA5}">
                      <a16:colId xmlns:a16="http://schemas.microsoft.com/office/drawing/2014/main" val="553567646"/>
                    </a:ext>
                  </a:extLst>
                </a:gridCol>
                <a:gridCol w="1132703">
                  <a:extLst>
                    <a:ext uri="{9D8B030D-6E8A-4147-A177-3AD203B41FA5}">
                      <a16:colId xmlns:a16="http://schemas.microsoft.com/office/drawing/2014/main" val="392625901"/>
                    </a:ext>
                  </a:extLst>
                </a:gridCol>
                <a:gridCol w="1132703">
                  <a:extLst>
                    <a:ext uri="{9D8B030D-6E8A-4147-A177-3AD203B41FA5}">
                      <a16:colId xmlns:a16="http://schemas.microsoft.com/office/drawing/2014/main" val="150723779"/>
                    </a:ext>
                  </a:extLst>
                </a:gridCol>
                <a:gridCol w="1132703">
                  <a:extLst>
                    <a:ext uri="{9D8B030D-6E8A-4147-A177-3AD203B41FA5}">
                      <a16:colId xmlns:a16="http://schemas.microsoft.com/office/drawing/2014/main" val="2127321224"/>
                    </a:ext>
                  </a:extLst>
                </a:gridCol>
              </a:tblGrid>
              <a:tr h="33721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NTA Code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NTA Name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Borough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Built Area Ratio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Prct</a:t>
                      </a: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 Foot Print Flooded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Risk </a:t>
                      </a:r>
                      <a:br>
                        <a:rPr lang="en-US" sz="700" b="1" u="none" strike="noStrike" dirty="0">
                          <a:effectLst/>
                        </a:rPr>
                      </a:br>
                      <a:r>
                        <a:rPr lang="en-US" sz="700" b="1" u="none" strike="noStrike" dirty="0">
                          <a:effectLst/>
                        </a:rPr>
                        <a:t>Score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97276062"/>
                  </a:ext>
                </a:extLst>
              </a:tr>
              <a:tr h="33721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QN0161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Sunnyside Yards (North)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Queens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0.301443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0.309469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0.093287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03918797"/>
                  </a:ext>
                </a:extLst>
              </a:tr>
              <a:tr h="33721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MN0401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Chelsea-Hudson Yards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Manhattan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0.444458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0.198664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0.088298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40578934"/>
                  </a:ext>
                </a:extLst>
              </a:tr>
              <a:tr h="33721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QN0102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Old Astoria-Hallets Point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Queens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0.294674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0.257414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0.075853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25475175"/>
                  </a:ext>
                </a:extLst>
              </a:tr>
              <a:tr h="33721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K0103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South Williamsburg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Brooklyn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0.356268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0.166246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0.059228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10291728"/>
                  </a:ext>
                </a:extLst>
              </a:tr>
              <a:tr h="23283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QN1201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Jamaica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Queens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0.3134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0.116817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0.03661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92239907"/>
                  </a:ext>
                </a:extLst>
              </a:tr>
              <a:tr h="54756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MN0601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Stuyvesant Town-Peter Cooper Village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Manhattan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0.205679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0.177853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0.036581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74790666"/>
                  </a:ext>
                </a:extLst>
              </a:tr>
              <a:tr h="23283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QN0601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Rego Park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Queens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0.275499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0.129549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0.035691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82186927"/>
                  </a:ext>
                </a:extLst>
              </a:tr>
              <a:tr h="23283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BX0502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Mount Hope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Bronx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0.351019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0.097271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0.034144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45701927"/>
                  </a:ext>
                </a:extLst>
              </a:tr>
              <a:tr h="23283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QN0401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Elmhurst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Queens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0.328939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0.098904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0.032533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61572259"/>
                  </a:ext>
                </a:extLst>
              </a:tr>
              <a:tr h="23283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MN0203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West Village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Manhattan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0.416286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0.073578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0.03063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76541837"/>
                  </a:ext>
                </a:extLst>
              </a:tr>
              <a:tr h="23283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MN0402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Hell's Kitchen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Manhattan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0.475031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0.062336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0.029612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00013679"/>
                  </a:ext>
                </a:extLst>
              </a:tr>
              <a:tr h="23283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QN0501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Maspeth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Queens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0.33442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0.087927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0.029405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93082291"/>
                  </a:ext>
                </a:extLst>
              </a:tr>
              <a:tr h="50581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MN0701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Upper West Side-Lincoln Square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Manhattan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0.38747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0.075419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0.029223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64641453"/>
                  </a:ext>
                </a:extLst>
              </a:tr>
              <a:tr h="23283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BK0102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Williamsburg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Brooklyn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0.359665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0.081145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0.029185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46729786"/>
                  </a:ext>
                </a:extLst>
              </a:tr>
              <a:tr h="33721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BX1161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Hutchinson Metro Center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Bronx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0.150508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0.188473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0.028367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93689770"/>
                  </a:ext>
                </a:extLst>
              </a:tr>
              <a:tr h="23283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QN0202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Sunnyside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Queens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0.303371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0.092197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0.02797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94409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5276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B4A8D6F-3A51-894E-0F9A-746D72BE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BDD3B-383F-5793-A011-4A3E4C25F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688175"/>
          </a:xfrm>
        </p:spPr>
        <p:txBody>
          <a:bodyPr/>
          <a:lstStyle/>
          <a:p>
            <a:r>
              <a:rPr lang="en-US" dirty="0"/>
              <a:t>Findings and Visualizations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7EE146-0E4A-633F-5DFE-937D30C77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D422734-A62A-73E2-B011-9EB7E0EA3B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755645"/>
              </p:ext>
            </p:extLst>
          </p:nvPr>
        </p:nvGraphicFramePr>
        <p:xfrm>
          <a:off x="1445741" y="1074440"/>
          <a:ext cx="6796218" cy="5172182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132703">
                  <a:extLst>
                    <a:ext uri="{9D8B030D-6E8A-4147-A177-3AD203B41FA5}">
                      <a16:colId xmlns:a16="http://schemas.microsoft.com/office/drawing/2014/main" val="4085975068"/>
                    </a:ext>
                  </a:extLst>
                </a:gridCol>
                <a:gridCol w="1132703">
                  <a:extLst>
                    <a:ext uri="{9D8B030D-6E8A-4147-A177-3AD203B41FA5}">
                      <a16:colId xmlns:a16="http://schemas.microsoft.com/office/drawing/2014/main" val="3586364838"/>
                    </a:ext>
                  </a:extLst>
                </a:gridCol>
                <a:gridCol w="1132703">
                  <a:extLst>
                    <a:ext uri="{9D8B030D-6E8A-4147-A177-3AD203B41FA5}">
                      <a16:colId xmlns:a16="http://schemas.microsoft.com/office/drawing/2014/main" val="553567646"/>
                    </a:ext>
                  </a:extLst>
                </a:gridCol>
                <a:gridCol w="1132703">
                  <a:extLst>
                    <a:ext uri="{9D8B030D-6E8A-4147-A177-3AD203B41FA5}">
                      <a16:colId xmlns:a16="http://schemas.microsoft.com/office/drawing/2014/main" val="392625901"/>
                    </a:ext>
                  </a:extLst>
                </a:gridCol>
                <a:gridCol w="1132703">
                  <a:extLst>
                    <a:ext uri="{9D8B030D-6E8A-4147-A177-3AD203B41FA5}">
                      <a16:colId xmlns:a16="http://schemas.microsoft.com/office/drawing/2014/main" val="150723779"/>
                    </a:ext>
                  </a:extLst>
                </a:gridCol>
                <a:gridCol w="1132703">
                  <a:extLst>
                    <a:ext uri="{9D8B030D-6E8A-4147-A177-3AD203B41FA5}">
                      <a16:colId xmlns:a16="http://schemas.microsoft.com/office/drawing/2014/main" val="2127321224"/>
                    </a:ext>
                  </a:extLst>
                </a:gridCol>
              </a:tblGrid>
              <a:tr h="33721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NTA Code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NTA Name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Borough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Built Area Ratio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Prct</a:t>
                      </a: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 Foot Print Flooded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Risk </a:t>
                      </a:r>
                      <a:br>
                        <a:rPr lang="en-US" sz="700" b="1" u="none" strike="noStrike" dirty="0">
                          <a:effectLst/>
                        </a:rPr>
                      </a:br>
                      <a:r>
                        <a:rPr lang="en-US" sz="700" b="1" u="none" strike="noStrike" dirty="0">
                          <a:effectLst/>
                        </a:rPr>
                        <a:t>Score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97276062"/>
                  </a:ext>
                </a:extLst>
              </a:tr>
              <a:tr h="33721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QN0161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Sunnyside Yards (North)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Queens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0.301443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0.309469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0.093287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03918797"/>
                  </a:ext>
                </a:extLst>
              </a:tr>
              <a:tr h="33721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MN0401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Chelsea-Hudson Yards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Manhattan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0.444458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0.198664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0.088298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40578934"/>
                  </a:ext>
                </a:extLst>
              </a:tr>
              <a:tr h="33721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QN0102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Old Astoria-Hallets Point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Queens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0.294674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0.257414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0.075853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25475175"/>
                  </a:ext>
                </a:extLst>
              </a:tr>
              <a:tr h="33721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K0103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South Williamsburg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Brooklyn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0.356268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0.166246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0.059228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10291728"/>
                  </a:ext>
                </a:extLst>
              </a:tr>
              <a:tr h="23283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QN1201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Jamaica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Queens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0.3134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0.116817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0.03661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92239907"/>
                  </a:ext>
                </a:extLst>
              </a:tr>
              <a:tr h="54756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MN0601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Stuyvesant Town-Peter Cooper Village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Manhattan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0.205679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0.177853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0.036581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74790666"/>
                  </a:ext>
                </a:extLst>
              </a:tr>
              <a:tr h="23283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QN0601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Rego Park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Queens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0.275499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0.129549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0.035691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82186927"/>
                  </a:ext>
                </a:extLst>
              </a:tr>
              <a:tr h="23283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BX0502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Mount Hope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Bronx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0.351019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0.097271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0.034144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45701927"/>
                  </a:ext>
                </a:extLst>
              </a:tr>
              <a:tr h="23283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QN0401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Elmhurst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Queens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0.328939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0.098904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0.032533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61572259"/>
                  </a:ext>
                </a:extLst>
              </a:tr>
              <a:tr h="23283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MN0203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West Village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Manhattan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0.416286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0.073578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0.03063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76541837"/>
                  </a:ext>
                </a:extLst>
              </a:tr>
              <a:tr h="23283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MN0402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Hell's Kitchen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Manhattan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0.475031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0.062336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0.029612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00013679"/>
                  </a:ext>
                </a:extLst>
              </a:tr>
              <a:tr h="23283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QN0501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Maspeth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Queens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0.33442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0.087927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0.029405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93082291"/>
                  </a:ext>
                </a:extLst>
              </a:tr>
              <a:tr h="50581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MN0701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Upper West Side-Lincoln Square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Manhattan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0.38747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0.075419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0.029223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64641453"/>
                  </a:ext>
                </a:extLst>
              </a:tr>
              <a:tr h="23283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BK0102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Williamsburg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Brooklyn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0.359665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0.081145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0.029185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46729786"/>
                  </a:ext>
                </a:extLst>
              </a:tr>
              <a:tr h="33721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BX1161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Hutchinson Metro Center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Bronx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0.150508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0.188473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0.028367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93689770"/>
                  </a:ext>
                </a:extLst>
              </a:tr>
              <a:tr h="23283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QN0202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Sunnyside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Queens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0.303371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0.092197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0.02797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9440984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99F51A8-487F-0038-03B4-F78DCF236D53}"/>
              </a:ext>
            </a:extLst>
          </p:cNvPr>
          <p:cNvSpPr txBox="1"/>
          <p:nvPr/>
        </p:nvSpPr>
        <p:spPr>
          <a:xfrm>
            <a:off x="6096000" y="1360744"/>
            <a:ext cx="1716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                    =</a:t>
            </a:r>
          </a:p>
        </p:txBody>
      </p:sp>
    </p:spTree>
    <p:extLst>
      <p:ext uri="{BB962C8B-B14F-4D97-AF65-F5344CB8AC3E}">
        <p14:creationId xmlns:p14="http://schemas.microsoft.com/office/powerpoint/2010/main" val="2265249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4719CF-CCBE-51B7-54C9-B0C7604F1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1AC44-6593-0E95-64D7-35AEB5449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688175"/>
          </a:xfrm>
        </p:spPr>
        <p:txBody>
          <a:bodyPr/>
          <a:lstStyle/>
          <a:p>
            <a:r>
              <a:rPr lang="en-US" dirty="0"/>
              <a:t>Findings and Visualizations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CE4C98-7B69-B2B2-1FFF-E398D6FCD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FE0AAF-B16A-73CF-C544-ACFDE8A84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" y="914400"/>
            <a:ext cx="11649075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818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B8C861A-AB2A-B16B-90BD-0EE9D66CF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A7FF5-B31B-4BA9-4476-C69B3A27F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688175"/>
          </a:xfrm>
        </p:spPr>
        <p:txBody>
          <a:bodyPr/>
          <a:lstStyle/>
          <a:p>
            <a:r>
              <a:rPr lang="en-US" dirty="0"/>
              <a:t>Findings and Visualizations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FD909E-89DB-F7AF-87B2-B72489AB8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426102-5413-9BCD-84A2-74500C4B2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50" y="1076325"/>
            <a:ext cx="8039100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304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FAAF6A8-4D4E-0B19-9ED8-F5030B0D4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E15D2-8323-56BC-A5B7-1696B4DDD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688175"/>
          </a:xfrm>
        </p:spPr>
        <p:txBody>
          <a:bodyPr/>
          <a:lstStyle/>
          <a:p>
            <a:r>
              <a:rPr lang="en-US" dirty="0"/>
              <a:t>Findings and Visualizations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6DBDB2-99B3-5485-2E4E-1EAE6352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3725F1-2F8B-0BE2-12CE-A47CC4906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312" y="1076325"/>
            <a:ext cx="7953375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420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FB472B7-69C9-B21A-1F9B-FA50D544F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2D7BA-4563-ABD4-4C24-10433DBC5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688175"/>
          </a:xfrm>
        </p:spPr>
        <p:txBody>
          <a:bodyPr/>
          <a:lstStyle/>
          <a:p>
            <a:r>
              <a:rPr lang="en-US" dirty="0"/>
              <a:t>Findings and Visualizations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18BBA8-CE1C-D5F8-4AB0-F4AFC413C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79B674-3145-1556-202B-26F33BE9E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4968" y="899535"/>
            <a:ext cx="5642064" cy="5529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756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EE29B67-069C-F37E-14C3-18E9C6C94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41335-3BCC-3ED5-302B-8C90289FA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688175"/>
          </a:xfrm>
        </p:spPr>
        <p:txBody>
          <a:bodyPr/>
          <a:lstStyle/>
          <a:p>
            <a:r>
              <a:rPr lang="en-US" dirty="0"/>
              <a:t>Findings and Visualizations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9ACDF1-3610-4CC9-CC40-551B791C7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5A94B5-7B38-567F-CDDC-43D1A9FE0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4937" y="950623"/>
            <a:ext cx="5222125" cy="559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405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9FF7713-D9C5-4425-9BFC-0C2A77389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67CE6-A550-3101-894E-7A209FD12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688175"/>
          </a:xfrm>
        </p:spPr>
        <p:txBody>
          <a:bodyPr/>
          <a:lstStyle/>
          <a:p>
            <a:r>
              <a:rPr lang="en-US" dirty="0"/>
              <a:t>Findings and Visualizations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2D5982-D2BB-75C4-5A4C-DF9BD53EF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E16FC8-2B2B-70F3-38CB-DA7FF71E5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8188" y="895921"/>
            <a:ext cx="5255623" cy="563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258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0434CDE-C653-57CA-6B9D-CF488EB2E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8FDDF-6AD5-B6D7-8CAE-0B224DC81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688175"/>
          </a:xfrm>
        </p:spPr>
        <p:txBody>
          <a:bodyPr/>
          <a:lstStyle/>
          <a:p>
            <a:r>
              <a:rPr lang="en-US" dirty="0"/>
              <a:t>Findings and Visualizations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FC4B16-3B6C-1F45-C6D9-5AB3C7A3D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9436F3-42FB-C3F8-19DC-9818BC035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346" y="905459"/>
            <a:ext cx="5267308" cy="559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099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B6C53FD-6692-942B-FD71-F5B0FC2FE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5ACEA-C6FD-BD82-B874-E5F6605F0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688175"/>
          </a:xfrm>
        </p:spPr>
        <p:txBody>
          <a:bodyPr/>
          <a:lstStyle/>
          <a:p>
            <a:r>
              <a:rPr lang="en-US" dirty="0"/>
              <a:t>Findings and Visualizations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EB0F6F-8BD6-EB02-A84C-2A34A64BB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971F8C-ED1B-E0CB-F9FE-B98934144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068" y="987299"/>
            <a:ext cx="8045863" cy="488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2966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AEE43C-B534-468C-6E32-70B01CEAE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6557B-9161-25F6-0E85-FDAAFFC66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688175"/>
          </a:xfrm>
        </p:spPr>
        <p:txBody>
          <a:bodyPr/>
          <a:lstStyle/>
          <a:p>
            <a:r>
              <a:rPr lang="en-US" dirty="0"/>
              <a:t>Findings and Visualizations</a:t>
            </a:r>
            <a:endParaRPr lang="en-Z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00E3FE-14BF-8C13-68D8-86BFCBFCE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80FE76-D8F1-7BA1-270A-FB62FB4D5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593" y="1028576"/>
            <a:ext cx="8026813" cy="48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0035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17ED5-7A7D-EBAB-DB8C-13B49B3A0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E53D9-4E1A-AF07-56DD-340756B26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Who Cares?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6FA3E4-2075-E398-BEB4-FFC7950114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" y="1884405"/>
            <a:ext cx="9959545" cy="4553465"/>
          </a:xfrm>
        </p:spPr>
        <p:txBody>
          <a:bodyPr>
            <a:normAutofit/>
          </a:bodyPr>
          <a:lstStyle/>
          <a:p>
            <a:r>
              <a:rPr lang="en-US" dirty="0"/>
              <a:t>This sort of data set can peak the interests of many industries and services</a:t>
            </a:r>
          </a:p>
          <a:p>
            <a:pPr lvl="1"/>
            <a:r>
              <a:rPr lang="en-US" dirty="0"/>
              <a:t>Flood insurance companies looking to locate at risk buildings in need of policy updates</a:t>
            </a:r>
          </a:p>
          <a:p>
            <a:pPr lvl="1"/>
            <a:r>
              <a:rPr lang="en-US" dirty="0"/>
              <a:t>City government looking to target neighborhoods that require updates to their flood defense systems</a:t>
            </a:r>
          </a:p>
          <a:p>
            <a:pPr lvl="1"/>
            <a:r>
              <a:rPr lang="en-US" dirty="0"/>
              <a:t>Real estate companies looking to loop in the risk of floods and its effects on the long term of their portfolios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25AEC0-8605-DD71-CB03-30075031B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1424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D61BD-AD70-468E-3380-755581A9E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01E04-DC52-7F30-7382-CC9D06765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Engaging the Data – Hiccups to pivot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AF9A3-A154-F7B1-0C34-B2EEA72501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1488989"/>
            <a:ext cx="8324089" cy="5233087"/>
          </a:xfrm>
        </p:spPr>
        <p:txBody>
          <a:bodyPr>
            <a:normAutofit/>
          </a:bodyPr>
          <a:lstStyle/>
          <a:p>
            <a:r>
              <a:rPr lang="en-US" dirty="0"/>
              <a:t>Initial goal was to loop in historical data, but re-naming of NYC’s Neighborhood Tabulation Areas (NTAs) codes made this difficult, the data does exist without a request process from NYC.gov</a:t>
            </a:r>
          </a:p>
          <a:p>
            <a:r>
              <a:rPr lang="en-US" dirty="0"/>
              <a:t>Upon further exploration other sources of data only yielded the historical decommissioning of buildings, the goal to highlight ‘recent areas of interest’ would need to be left out</a:t>
            </a:r>
          </a:p>
          <a:p>
            <a:r>
              <a:rPr lang="en-US" dirty="0"/>
              <a:t>Construction Year column allowed for a decent pivot so that we could at least highlight this in some cases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0AE009-B53C-BC24-C731-298C13EC0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687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911BB-06D7-9FD0-542C-D2E662F44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86676-6119-CD1C-F06C-BA5FB8D8E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9227120" cy="1326514"/>
          </a:xfrm>
        </p:spPr>
        <p:txBody>
          <a:bodyPr/>
          <a:lstStyle/>
          <a:p>
            <a:r>
              <a:rPr lang="en-US" dirty="0"/>
              <a:t>Engaging the Data – Hiccups and Learning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297243-0C94-47BB-4D72-1A0F2FC2F6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" y="1488989"/>
            <a:ext cx="5415399" cy="4948881"/>
          </a:xfrm>
        </p:spPr>
        <p:txBody>
          <a:bodyPr>
            <a:normAutofit/>
          </a:bodyPr>
          <a:lstStyle/>
          <a:p>
            <a:r>
              <a:rPr lang="en-US" dirty="0"/>
              <a:t>Coordinate Reference System (CRS)</a:t>
            </a:r>
          </a:p>
          <a:p>
            <a:pPr lvl="1"/>
            <a:r>
              <a:rPr lang="en-US" dirty="0"/>
              <a:t>Some of the geospatial datasets were in ESPG 4326 which is a global latitudinal/longitudinal CRS and most common in world</a:t>
            </a:r>
          </a:p>
          <a:p>
            <a:pPr lvl="2"/>
            <a:r>
              <a:rPr lang="en-US" dirty="0"/>
              <a:t>Note the e-08 </a:t>
            </a:r>
            <a:r>
              <a:rPr lang="en-US" dirty="0" err="1"/>
              <a:t>etc</a:t>
            </a:r>
            <a:r>
              <a:rPr lang="en-US" dirty="0"/>
              <a:t> tiny measurements in degrees</a:t>
            </a:r>
          </a:p>
          <a:p>
            <a:pPr lvl="1"/>
            <a:r>
              <a:rPr lang="en-US" dirty="0"/>
              <a:t>EPSG 2263 is specific to New York and allows for area computation</a:t>
            </a:r>
          </a:p>
          <a:p>
            <a:pPr lvl="2"/>
            <a:r>
              <a:rPr lang="en-US" dirty="0"/>
              <a:t>“Flat” and feet-based, allows for density, length, area, etc.</a:t>
            </a:r>
          </a:p>
          <a:p>
            <a:pPr lvl="1"/>
            <a:r>
              <a:rPr lang="en-US" dirty="0"/>
              <a:t>CRS should always be a first step in checking a geospatial dataset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C12D5F-324C-8D29-2BA5-7A1DFECF7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2FB605-0352-601A-7066-B0553A369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858" y="1610884"/>
            <a:ext cx="5683542" cy="463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2849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CE452-2538-52DE-EC42-E6F77677F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3B3CC-33E3-1DA1-FD19-D0EE22E9B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Engaging the Data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75A7D-5974-6C5D-E26E-2D0C96844C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" y="1488989"/>
            <a:ext cx="5415399" cy="4948881"/>
          </a:xfrm>
        </p:spPr>
        <p:txBody>
          <a:bodyPr>
            <a:normAutofit/>
          </a:bodyPr>
          <a:lstStyle/>
          <a:p>
            <a:r>
              <a:rPr lang="en-US" dirty="0"/>
              <a:t>Combining all 3 datasets requires finesse</a:t>
            </a:r>
          </a:p>
          <a:p>
            <a:pPr lvl="1"/>
            <a:r>
              <a:rPr lang="en-US" dirty="0"/>
              <a:t>Taking the centroid of the polygon shapes of building and joining them to polygon shapes of NTAs allowed us to state where these buildings belonged</a:t>
            </a:r>
          </a:p>
          <a:p>
            <a:pPr lvl="1"/>
            <a:r>
              <a:rPr lang="en-US" dirty="0"/>
              <a:t>Flood zones followed a similar process</a:t>
            </a:r>
          </a:p>
          <a:p>
            <a:pPr lvl="1"/>
            <a:r>
              <a:rPr lang="en-US" dirty="0"/>
              <a:t>Confirmation done to ensure joins worked</a:t>
            </a:r>
          </a:p>
          <a:p>
            <a:pPr lvl="1"/>
            <a:r>
              <a:rPr lang="en-US" dirty="0"/>
              <a:t>Processed new joined datasets into parquet files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F0C5F7-578A-324F-2D8F-C55575569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CB742A-5BD7-B408-DA21-0ABCFD17D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9126" y="1541829"/>
            <a:ext cx="6388428" cy="408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471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45725-133A-3A7D-BAC7-59392AB55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44F54-E0E6-031A-D795-3049FCD78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Future Direction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C2C8E-3A8C-2245-A052-1F0BEA53B6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1890585"/>
            <a:ext cx="8324089" cy="466467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Bring in a more sophisticated flood model</a:t>
            </a:r>
          </a:p>
          <a:p>
            <a:pPr lvl="1"/>
            <a:r>
              <a:rPr lang="en-US" dirty="0"/>
              <a:t>Options such as various rain severities, or even NYC labeled flood events based on vulnerability (</a:t>
            </a:r>
            <a:r>
              <a:rPr lang="en-US" dirty="0">
                <a:hlinkClick r:id="rId2"/>
              </a:rPr>
              <a:t>New York City's Flood Vulnerability Index | NYC Open Data</a:t>
            </a:r>
            <a:r>
              <a:rPr lang="en-US" dirty="0"/>
              <a:t>)</a:t>
            </a:r>
          </a:p>
          <a:p>
            <a:r>
              <a:rPr lang="en-US" dirty="0"/>
              <a:t>Zoning and other government filings to create new structures</a:t>
            </a:r>
          </a:p>
          <a:p>
            <a:pPr lvl="1"/>
            <a:r>
              <a:rPr lang="en-US" dirty="0"/>
              <a:t>Regular updates with new construction, could be used to alert an insurance company of new major construction in an area they want to sell policies to</a:t>
            </a:r>
          </a:p>
          <a:p>
            <a:r>
              <a:rPr lang="en-US" dirty="0"/>
              <a:t>Effect of rising sea levels over time</a:t>
            </a:r>
          </a:p>
          <a:p>
            <a:pPr lvl="1"/>
            <a:r>
              <a:rPr lang="en-US" dirty="0"/>
              <a:t>If an entity wants to loosen their hold on the long term </a:t>
            </a:r>
            <a:r>
              <a:rPr lang="en-US" dirty="0" err="1"/>
              <a:t>realestate</a:t>
            </a:r>
            <a:r>
              <a:rPr lang="en-US" dirty="0"/>
              <a:t> market in NYC to free up capital, areas likely to experience flooding by 2040 might be ideal</a:t>
            </a:r>
          </a:p>
          <a:p>
            <a:r>
              <a:rPr lang="en-US" dirty="0"/>
              <a:t>Utilizing </a:t>
            </a:r>
            <a:r>
              <a:rPr lang="en-US" dirty="0" err="1"/>
              <a:t>PMTiles</a:t>
            </a:r>
            <a:r>
              <a:rPr lang="en-US" dirty="0"/>
              <a:t> files to overlay various polygonal shapes and create a more interactive dashboard type feel by tying in HTML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4F53D9-BA51-DF4C-D007-EC0B8A3DF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8859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BD77D-345F-F8F6-D6DC-2AABC96D8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04B2B-C8DD-FB1F-E9A2-E48E62841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Sources and Links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C48CFD-12CB-5489-9B64-73EF975DB8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Building Footprints (Map) | NYC Open Data</a:t>
            </a:r>
            <a:endParaRPr lang="en-US" dirty="0"/>
          </a:p>
          <a:p>
            <a:r>
              <a:rPr lang="en-US" dirty="0">
                <a:hlinkClick r:id="rId3"/>
              </a:rPr>
              <a:t>2020 Neighborhood Tabulation Areas (NTAs) | NYC Open Data</a:t>
            </a:r>
            <a:endParaRPr lang="en-US" dirty="0"/>
          </a:p>
          <a:p>
            <a:r>
              <a:rPr lang="en-US" dirty="0">
                <a:hlinkClick r:id="rId4"/>
              </a:rPr>
              <a:t>NYC Stormwater Flood Maps | NYC Open Data</a:t>
            </a:r>
            <a:endParaRPr lang="en-US" dirty="0"/>
          </a:p>
          <a:p>
            <a:r>
              <a:rPr lang="en-US" dirty="0">
                <a:hlinkClick r:id="rId5"/>
              </a:rPr>
              <a:t>www.powervisualize.com</a:t>
            </a:r>
            <a:endParaRPr lang="en-US" dirty="0"/>
          </a:p>
          <a:p>
            <a:r>
              <a:rPr lang="en-US" dirty="0">
                <a:hlinkClick r:id="rId6"/>
              </a:rPr>
              <a:t>rowens2025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90EAF5-6491-1F37-2A48-07C123579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0805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E8D25-D403-2E2B-50DA-B21A0500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505016"/>
            <a:ext cx="5775656" cy="3284932"/>
          </a:xfrm>
        </p:spPr>
        <p:txBody>
          <a:bodyPr/>
          <a:lstStyle/>
          <a:p>
            <a:r>
              <a:rPr lang="en-US" dirty="0"/>
              <a:t>Thank you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6DB3D-3AE2-9478-3245-FE2F98B96E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3" y="4006024"/>
            <a:ext cx="5794248" cy="2346960"/>
          </a:xfrm>
        </p:spPr>
        <p:txBody>
          <a:bodyPr/>
          <a:lstStyle/>
          <a:p>
            <a:r>
              <a:rPr lang="en-US" dirty="0"/>
              <a:t>Ryan Owens</a:t>
            </a:r>
          </a:p>
        </p:txBody>
      </p:sp>
    </p:spTree>
    <p:extLst>
      <p:ext uri="{BB962C8B-B14F-4D97-AF65-F5344CB8AC3E}">
        <p14:creationId xmlns:p14="http://schemas.microsoft.com/office/powerpoint/2010/main" val="34930611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8_Win32_SL_V4" id="{806921AB-1FF9-416C-A3A7-D14200787132}" vid="{8436FA26-ADF6-4DA9-8A70-95C197E77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C5040CA-20CC-43C6-BC0C-8D8696B6AF8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63e42b2-2081-4be7-8392-89aa6ee57107}" enabled="1" method="Standard" siteId="{2c19dadb-11dc-4105-b3ad-cdcef824fae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{EC2D35D7-58B8-4075-BAB0-4C8400DBB740}TFb05bf529-a1dc-42d5-b9d6-8a1e9569dd9caf6e7d0f_win32-c3c9796a48f5</Template>
  <TotalTime>13458</TotalTime>
  <Words>1102</Words>
  <Application>Microsoft Office PowerPoint</Application>
  <PresentationFormat>Widescreen</PresentationFormat>
  <Paragraphs>321</Paragraphs>
  <Slides>28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Avenir Next LT Pro Light</vt:lpstr>
      <vt:lpstr>Calibri</vt:lpstr>
      <vt:lpstr>Posterama</vt:lpstr>
      <vt:lpstr>Segoe UI</vt:lpstr>
      <vt:lpstr>Custom</vt:lpstr>
      <vt:lpstr>NYC  FLOOD RISK Exploration in Python </vt:lpstr>
      <vt:lpstr>Agenda </vt:lpstr>
      <vt:lpstr>Introduction and Goals</vt:lpstr>
      <vt:lpstr>UNDERSTANDING the Data</vt:lpstr>
      <vt:lpstr>UNDERSTANDING the Data</vt:lpstr>
      <vt:lpstr>ENRICHING the Data</vt:lpstr>
      <vt:lpstr>ENRICHING the Data</vt:lpstr>
      <vt:lpstr>Enriching the Data</vt:lpstr>
      <vt:lpstr>Enriching the Data</vt:lpstr>
      <vt:lpstr>Findings and Visualizations</vt:lpstr>
      <vt:lpstr>Findings and Visualizations</vt:lpstr>
      <vt:lpstr>Findings and Visualizations</vt:lpstr>
      <vt:lpstr>Findings and Visualizations</vt:lpstr>
      <vt:lpstr>Findings and Visualizations</vt:lpstr>
      <vt:lpstr>Findings and Visualizations</vt:lpstr>
      <vt:lpstr>Findings and Visualizations</vt:lpstr>
      <vt:lpstr>Findings and Visualizations</vt:lpstr>
      <vt:lpstr>Findings and Visualizations</vt:lpstr>
      <vt:lpstr>Findings and Visualizations</vt:lpstr>
      <vt:lpstr>Findings and Visualizations</vt:lpstr>
      <vt:lpstr>Findings and Visualizations</vt:lpstr>
      <vt:lpstr>Who Cares?</vt:lpstr>
      <vt:lpstr>Engaging the Data – Hiccups to pivot</vt:lpstr>
      <vt:lpstr>Engaging the Data – Hiccups and Learning</vt:lpstr>
      <vt:lpstr>Engaging the Data</vt:lpstr>
      <vt:lpstr>Future Direction</vt:lpstr>
      <vt:lpstr>Sources and Links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Owens</dc:creator>
  <cp:lastModifiedBy>Ryan Owens</cp:lastModifiedBy>
  <cp:revision>6</cp:revision>
  <dcterms:created xsi:type="dcterms:W3CDTF">2025-12-16T01:15:05Z</dcterms:created>
  <dcterms:modified xsi:type="dcterms:W3CDTF">2026-01-06T03:36:17Z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